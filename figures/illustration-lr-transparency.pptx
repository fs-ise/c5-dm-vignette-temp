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7" r:id="rId2"/>
  </p:sldIdLst>
  <p:sldSz cx="12192000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001553"/>
            <a:ext cx="9144000" cy="2130602"/>
          </a:xfrm>
        </p:spPr>
        <p:txBody>
          <a:bodyPr anchor="b"/>
          <a:lstStyle>
            <a:lvl1pPr algn="ctr">
              <a:defRPr sz="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214319"/>
            <a:ext cx="9144000" cy="1477538"/>
          </a:xfrm>
        </p:spPr>
        <p:txBody>
          <a:bodyPr/>
          <a:lstStyle>
            <a:lvl1pPr marL="0" indent="0" algn="ctr">
              <a:buNone/>
              <a:defRPr sz="2142"/>
            </a:lvl1pPr>
            <a:lvl2pPr marL="408005" indent="0" algn="ctr">
              <a:buNone/>
              <a:defRPr sz="1785"/>
            </a:lvl2pPr>
            <a:lvl3pPr marL="816011" indent="0" algn="ctr">
              <a:buNone/>
              <a:defRPr sz="1606"/>
            </a:lvl3pPr>
            <a:lvl4pPr marL="1224016" indent="0" algn="ctr">
              <a:buNone/>
              <a:defRPr sz="1428"/>
            </a:lvl4pPr>
            <a:lvl5pPr marL="1632021" indent="0" algn="ctr">
              <a:buNone/>
              <a:defRPr sz="1428"/>
            </a:lvl5pPr>
            <a:lvl6pPr marL="2040026" indent="0" algn="ctr">
              <a:buNone/>
              <a:defRPr sz="1428"/>
            </a:lvl6pPr>
            <a:lvl7pPr marL="2448032" indent="0" algn="ctr">
              <a:buNone/>
              <a:defRPr sz="1428"/>
            </a:lvl7pPr>
            <a:lvl8pPr marL="2856037" indent="0" algn="ctr">
              <a:buNone/>
              <a:defRPr sz="1428"/>
            </a:lvl8pPr>
            <a:lvl9pPr marL="3264042" indent="0" algn="ctr">
              <a:buNone/>
              <a:defRPr sz="1428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68633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1546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525704"/>
            <a:ext cx="10515600" cy="2545672"/>
          </a:xfrm>
        </p:spPr>
        <p:txBody>
          <a:bodyPr anchor="b"/>
          <a:lstStyle>
            <a:lvl1pPr>
              <a:defRPr sz="535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095459"/>
            <a:ext cx="10515600" cy="1338709"/>
          </a:xfrm>
        </p:spPr>
        <p:txBody>
          <a:bodyPr/>
          <a:lstStyle>
            <a:lvl1pPr marL="0" indent="0">
              <a:buNone/>
              <a:defRPr sz="2142">
                <a:solidFill>
                  <a:schemeClr val="tx1">
                    <a:tint val="75000"/>
                  </a:schemeClr>
                </a:solidFill>
              </a:defRPr>
            </a:lvl1pPr>
            <a:lvl2pPr marL="408005" indent="0">
              <a:buNone/>
              <a:defRPr sz="1785">
                <a:solidFill>
                  <a:schemeClr val="tx1">
                    <a:tint val="75000"/>
                  </a:schemeClr>
                </a:solidFill>
              </a:defRPr>
            </a:lvl2pPr>
            <a:lvl3pPr marL="816011" indent="0">
              <a:buNone/>
              <a:defRPr sz="1606">
                <a:solidFill>
                  <a:schemeClr val="tx1">
                    <a:tint val="75000"/>
                  </a:schemeClr>
                </a:solidFill>
              </a:defRPr>
            </a:lvl3pPr>
            <a:lvl4pPr marL="122401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4pPr>
            <a:lvl5pPr marL="1632021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5pPr>
            <a:lvl6pPr marL="2040026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6pPr>
            <a:lvl7pPr marL="244803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7pPr>
            <a:lvl8pPr marL="2856037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8pPr>
            <a:lvl9pPr marL="3264042" indent="0">
              <a:buNone/>
              <a:defRPr sz="142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73075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29117"/>
            <a:ext cx="5181600" cy="3882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29117"/>
            <a:ext cx="5181600" cy="388296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79334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25824"/>
            <a:ext cx="10515600" cy="1182881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500205"/>
            <a:ext cx="5157787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235432"/>
            <a:ext cx="5157787" cy="32879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500205"/>
            <a:ext cx="5183188" cy="735227"/>
          </a:xfrm>
        </p:spPr>
        <p:txBody>
          <a:bodyPr anchor="b"/>
          <a:lstStyle>
            <a:lvl1pPr marL="0" indent="0">
              <a:buNone/>
              <a:defRPr sz="2142" b="1"/>
            </a:lvl1pPr>
            <a:lvl2pPr marL="408005" indent="0">
              <a:buNone/>
              <a:defRPr sz="1785" b="1"/>
            </a:lvl2pPr>
            <a:lvl3pPr marL="816011" indent="0">
              <a:buNone/>
              <a:defRPr sz="1606" b="1"/>
            </a:lvl3pPr>
            <a:lvl4pPr marL="1224016" indent="0">
              <a:buNone/>
              <a:defRPr sz="1428" b="1"/>
            </a:lvl4pPr>
            <a:lvl5pPr marL="1632021" indent="0">
              <a:buNone/>
              <a:defRPr sz="1428" b="1"/>
            </a:lvl5pPr>
            <a:lvl6pPr marL="2040026" indent="0">
              <a:buNone/>
              <a:defRPr sz="1428" b="1"/>
            </a:lvl6pPr>
            <a:lvl7pPr marL="2448032" indent="0">
              <a:buNone/>
              <a:defRPr sz="1428" b="1"/>
            </a:lvl7pPr>
            <a:lvl8pPr marL="2856037" indent="0">
              <a:buNone/>
              <a:defRPr sz="1428" b="1"/>
            </a:lvl8pPr>
            <a:lvl9pPr marL="3264042" indent="0">
              <a:buNone/>
              <a:defRPr sz="1428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235432"/>
            <a:ext cx="5183188" cy="32879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8649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0357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95248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7988"/>
            <a:ext cx="3932237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81140"/>
            <a:ext cx="6172200" cy="4349034"/>
          </a:xfrm>
        </p:spPr>
        <p:txBody>
          <a:bodyPr/>
          <a:lstStyle>
            <a:lvl1pPr>
              <a:defRPr sz="2856"/>
            </a:lvl1pPr>
            <a:lvl2pPr>
              <a:defRPr sz="2499"/>
            </a:lvl2pPr>
            <a:lvl3pPr>
              <a:defRPr sz="2142"/>
            </a:lvl3pPr>
            <a:lvl4pPr>
              <a:defRPr sz="1785"/>
            </a:lvl4pPr>
            <a:lvl5pPr>
              <a:defRPr sz="1785"/>
            </a:lvl5pPr>
            <a:lvl6pPr>
              <a:defRPr sz="1785"/>
            </a:lvl6pPr>
            <a:lvl7pPr>
              <a:defRPr sz="1785"/>
            </a:lvl7pPr>
            <a:lvl8pPr>
              <a:defRPr sz="1785"/>
            </a:lvl8pPr>
            <a:lvl9pPr>
              <a:defRPr sz="1785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35944"/>
            <a:ext cx="3932237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58710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407988"/>
            <a:ext cx="3932237" cy="1427956"/>
          </a:xfrm>
        </p:spPr>
        <p:txBody>
          <a:bodyPr anchor="b"/>
          <a:lstStyle>
            <a:lvl1pPr>
              <a:defRPr sz="2856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81140"/>
            <a:ext cx="6172200" cy="4349034"/>
          </a:xfrm>
        </p:spPr>
        <p:txBody>
          <a:bodyPr anchor="t"/>
          <a:lstStyle>
            <a:lvl1pPr marL="0" indent="0">
              <a:buNone/>
              <a:defRPr sz="2856"/>
            </a:lvl1pPr>
            <a:lvl2pPr marL="408005" indent="0">
              <a:buNone/>
              <a:defRPr sz="2499"/>
            </a:lvl2pPr>
            <a:lvl3pPr marL="816011" indent="0">
              <a:buNone/>
              <a:defRPr sz="2142"/>
            </a:lvl3pPr>
            <a:lvl4pPr marL="1224016" indent="0">
              <a:buNone/>
              <a:defRPr sz="1785"/>
            </a:lvl4pPr>
            <a:lvl5pPr marL="1632021" indent="0">
              <a:buNone/>
              <a:defRPr sz="1785"/>
            </a:lvl5pPr>
            <a:lvl6pPr marL="2040026" indent="0">
              <a:buNone/>
              <a:defRPr sz="1785"/>
            </a:lvl6pPr>
            <a:lvl7pPr marL="2448032" indent="0">
              <a:buNone/>
              <a:defRPr sz="1785"/>
            </a:lvl7pPr>
            <a:lvl8pPr marL="2856037" indent="0">
              <a:buNone/>
              <a:defRPr sz="1785"/>
            </a:lvl8pPr>
            <a:lvl9pPr marL="3264042" indent="0">
              <a:buNone/>
              <a:defRPr sz="1785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835944"/>
            <a:ext cx="3932237" cy="3401313"/>
          </a:xfrm>
        </p:spPr>
        <p:txBody>
          <a:bodyPr/>
          <a:lstStyle>
            <a:lvl1pPr marL="0" indent="0">
              <a:buNone/>
              <a:defRPr sz="1428"/>
            </a:lvl1pPr>
            <a:lvl2pPr marL="408005" indent="0">
              <a:buNone/>
              <a:defRPr sz="1249"/>
            </a:lvl2pPr>
            <a:lvl3pPr marL="816011" indent="0">
              <a:buNone/>
              <a:defRPr sz="1071"/>
            </a:lvl3pPr>
            <a:lvl4pPr marL="1224016" indent="0">
              <a:buNone/>
              <a:defRPr sz="892"/>
            </a:lvl4pPr>
            <a:lvl5pPr marL="1632021" indent="0">
              <a:buNone/>
              <a:defRPr sz="892"/>
            </a:lvl5pPr>
            <a:lvl6pPr marL="2040026" indent="0">
              <a:buNone/>
              <a:defRPr sz="892"/>
            </a:lvl6pPr>
            <a:lvl7pPr marL="2448032" indent="0">
              <a:buNone/>
              <a:defRPr sz="892"/>
            </a:lvl7pPr>
            <a:lvl8pPr marL="2856037" indent="0">
              <a:buNone/>
              <a:defRPr sz="892"/>
            </a:lvl8pPr>
            <a:lvl9pPr marL="3264042" indent="0">
              <a:buNone/>
              <a:defRPr sz="892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0319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4062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25823"/>
            <a:ext cx="2628900" cy="518625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25823"/>
            <a:ext cx="7734300" cy="518625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7003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25824"/>
            <a:ext cx="10515600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29117"/>
            <a:ext cx="10515600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672161"/>
            <a:ext cx="27432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BD270C-3B6B-417E-9593-59B2D73C4422}" type="datetimeFigureOut">
              <a:rPr lang="en-CA" smtClean="0"/>
              <a:t>2025-06-04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672161"/>
            <a:ext cx="41148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672161"/>
            <a:ext cx="2743200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7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03A604-4BB9-4FF0-A9ED-EBB99F901592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3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816011" rtl="0" eaLnBrk="1" latinLnBrk="0" hangingPunct="1">
        <a:lnSpc>
          <a:spcPct val="90000"/>
        </a:lnSpc>
        <a:spcBef>
          <a:spcPct val="0"/>
        </a:spcBef>
        <a:buNone/>
        <a:defRPr sz="392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4003" indent="-204003" algn="l" defTabSz="816011" rtl="0" eaLnBrk="1" latinLnBrk="0" hangingPunct="1">
        <a:lnSpc>
          <a:spcPct val="90000"/>
        </a:lnSpc>
        <a:spcBef>
          <a:spcPts val="892"/>
        </a:spcBef>
        <a:buFont typeface="Arial" panose="020B0604020202020204" pitchFamily="34" charset="0"/>
        <a:buChar char="•"/>
        <a:defRPr sz="2499" kern="1200">
          <a:solidFill>
            <a:schemeClr val="tx1"/>
          </a:solidFill>
          <a:latin typeface="+mn-lt"/>
          <a:ea typeface="+mn-ea"/>
          <a:cs typeface="+mn-cs"/>
        </a:defRPr>
      </a:lvl1pPr>
      <a:lvl2pPr marL="61200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2142" kern="1200">
          <a:solidFill>
            <a:schemeClr val="tx1"/>
          </a:solidFill>
          <a:latin typeface="+mn-lt"/>
          <a:ea typeface="+mn-ea"/>
          <a:cs typeface="+mn-cs"/>
        </a:defRPr>
      </a:lvl2pPr>
      <a:lvl3pPr marL="1020013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785" kern="1200">
          <a:solidFill>
            <a:schemeClr val="tx1"/>
          </a:solidFill>
          <a:latin typeface="+mn-lt"/>
          <a:ea typeface="+mn-ea"/>
          <a:cs typeface="+mn-cs"/>
        </a:defRPr>
      </a:lvl3pPr>
      <a:lvl4pPr marL="1428018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83602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244029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652034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3060040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468045" indent="-204003" algn="l" defTabSz="816011" rtl="0" eaLnBrk="1" latinLnBrk="0" hangingPunct="1">
        <a:lnSpc>
          <a:spcPct val="90000"/>
        </a:lnSpc>
        <a:spcBef>
          <a:spcPts val="446"/>
        </a:spcBef>
        <a:buFont typeface="Arial" panose="020B0604020202020204" pitchFamily="34" charset="0"/>
        <a:buChar char="•"/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1pPr>
      <a:lvl2pPr marL="408005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2pPr>
      <a:lvl3pPr marL="81601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3pPr>
      <a:lvl4pPr marL="122401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4pPr>
      <a:lvl5pPr marL="1632021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5pPr>
      <a:lvl6pPr marL="2040026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6pPr>
      <a:lvl7pPr marL="244803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7pPr>
      <a:lvl8pPr marL="2856037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8pPr>
      <a:lvl9pPr marL="3264042" algn="l" defTabSz="816011" rtl="0" eaLnBrk="1" latinLnBrk="0" hangingPunct="1">
        <a:defRPr sz="160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le 2">
            <a:extLst>
              <a:ext uri="{FF2B5EF4-FFF2-40B4-BE49-F238E27FC236}">
                <a16:creationId xmlns:a16="http://schemas.microsoft.com/office/drawing/2014/main" id="{C730CB2B-DC07-71E9-EBE5-DB406FB691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0922"/>
              </p:ext>
            </p:extLst>
          </p:nvPr>
        </p:nvGraphicFramePr>
        <p:xfrm>
          <a:off x="388074" y="175001"/>
          <a:ext cx="11311017" cy="58455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1017">
                  <a:extLst>
                    <a:ext uri="{9D8B030D-6E8A-4147-A177-3AD203B41FA5}">
                      <a16:colId xmlns:a16="http://schemas.microsoft.com/office/drawing/2014/main" val="3899783361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352594158"/>
                    </a:ext>
                  </a:extLst>
                </a:gridCol>
                <a:gridCol w="4320000">
                  <a:extLst>
                    <a:ext uri="{9D8B030D-6E8A-4147-A177-3AD203B41FA5}">
                      <a16:colId xmlns:a16="http://schemas.microsoft.com/office/drawing/2014/main" val="2561788377"/>
                    </a:ext>
                  </a:extLst>
                </a:gridCol>
              </a:tblGrid>
              <a:tr h="551441">
                <a:tc>
                  <a:txBody>
                    <a:bodyPr/>
                    <a:lstStyle/>
                    <a:p>
                      <a:pPr marL="0" marR="0" lvl="0" indent="0" algn="l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/>
                        <a:t>Data management system</a:t>
                      </a:r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noProof="0" dirty="0"/>
                        <a:t>Relational database</a:t>
                      </a:r>
                      <a:endParaRPr lang="en-US" sz="1800" noProof="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marL="0" marR="0" lvl="0" indent="0" algn="ctr" defTabSz="767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noProof="0" dirty="0"/>
                        <a:t>Collaborative versioning system</a:t>
                      </a:r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2288477276"/>
                  </a:ext>
                </a:extLst>
              </a:tr>
              <a:tr h="2011682">
                <a:tc>
                  <a:txBody>
                    <a:bodyPr/>
                    <a:lstStyle/>
                    <a:p>
                      <a:pPr algn="l"/>
                      <a:r>
                        <a:rPr lang="en-US" sz="1800" b="1" noProof="0" dirty="0"/>
                        <a:t>Illustration</a:t>
                      </a:r>
                    </a:p>
                    <a:p>
                      <a:pPr algn="l"/>
                      <a:endParaRPr lang="en-US" sz="1800" b="1" noProof="0" dirty="0"/>
                    </a:p>
                    <a:p>
                      <a:pPr algn="l"/>
                      <a:endParaRPr lang="en-US" sz="1800" b="1" noProof="0" dirty="0"/>
                    </a:p>
                    <a:p>
                      <a:pPr algn="l"/>
                      <a:endParaRPr lang="en-US" sz="1800" b="1" noProof="0" dirty="0"/>
                    </a:p>
                    <a:p>
                      <a:pPr algn="l"/>
                      <a:endParaRPr lang="en-US" sz="1800" b="1" noProof="0" dirty="0"/>
                    </a:p>
                    <a:p>
                      <a:pPr algn="l"/>
                      <a:endParaRPr lang="en-US" sz="1800" b="1" noProof="0" dirty="0"/>
                    </a:p>
                    <a:p>
                      <a:pPr algn="l"/>
                      <a:endParaRPr lang="en-US" sz="1800" b="1" noProof="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ctr"/>
                      <a:endParaRPr lang="en-US" sz="1800" b="1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</a:txBody>
                  <a:tcPr marT="45721" marB="45721" anchor="ctr"/>
                </a:tc>
                <a:tc>
                  <a:txBody>
                    <a:bodyPr/>
                    <a:lstStyle/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  <a:p>
                      <a:pPr algn="l"/>
                      <a:endParaRPr lang="en-US" sz="1800" noProof="0" dirty="0"/>
                    </a:p>
                  </a:txBody>
                  <a:tcPr marT="45721" marB="45721" anchor="ctr"/>
                </a:tc>
                <a:extLst>
                  <a:ext uri="{0D108BD9-81ED-4DB2-BD59-A6C34878D82A}">
                    <a16:rowId xmlns:a16="http://schemas.microsoft.com/office/drawing/2014/main" val="1481556529"/>
                  </a:ext>
                </a:extLst>
              </a:tr>
              <a:tr h="640082">
                <a:tc>
                  <a:txBody>
                    <a:bodyPr/>
                    <a:lstStyle/>
                    <a:p>
                      <a:pPr algn="l"/>
                      <a:r>
                        <a:rPr lang="en-US" sz="1800" b="1" noProof="0" dirty="0"/>
                        <a:t>Prevalence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 dirty="0"/>
                        <a:t>High (e.g., </a:t>
                      </a:r>
                      <a:r>
                        <a:rPr lang="de-DE" sz="1800" dirty="0" err="1"/>
                        <a:t>ASReview</a:t>
                      </a:r>
                      <a:r>
                        <a:rPr lang="de-DE" sz="1800" dirty="0"/>
                        <a:t>, </a:t>
                      </a:r>
                      <a:r>
                        <a:rPr lang="de-DE" sz="1800" dirty="0" err="1"/>
                        <a:t>Buhos</a:t>
                      </a:r>
                      <a:r>
                        <a:rPr lang="de-DE" sz="1800" dirty="0"/>
                        <a:t>, </a:t>
                      </a:r>
                      <a:r>
                        <a:rPr lang="de-DE" sz="1800" dirty="0" err="1"/>
                        <a:t>Rayyan</a:t>
                      </a:r>
                      <a:r>
                        <a:rPr lang="de-DE" sz="1800" dirty="0"/>
                        <a:t>, </a:t>
                      </a:r>
                      <a:r>
                        <a:rPr lang="de-DE" sz="1800" dirty="0" err="1"/>
                        <a:t>HubMeta</a:t>
                      </a:r>
                      <a:r>
                        <a:rPr lang="de-DE" sz="1800" dirty="0"/>
                        <a:t>, CRUISE-screening)</a:t>
                      </a:r>
                      <a:endParaRPr lang="en-CA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l"/>
                      <a:r>
                        <a:rPr lang="de-DE" sz="1800" dirty="0"/>
                        <a:t>Low</a:t>
                      </a:r>
                      <a:endParaRPr lang="en-CA" sz="1800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2036198584"/>
                  </a:ext>
                </a:extLst>
              </a:tr>
              <a:tr h="630659">
                <a:tc>
                  <a:txBody>
                    <a:bodyPr/>
                    <a:lstStyle/>
                    <a:p>
                      <a:pPr algn="l"/>
                      <a:r>
                        <a:rPr lang="en-US" sz="1800" b="1" noProof="0" dirty="0"/>
                        <a:t>Nature of changes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Not transparent and hard to undo</a:t>
                      </a:r>
                      <a:endParaRPr lang="en-CA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Transparent and reversible</a:t>
                      </a:r>
                      <a:endParaRPr lang="en-CA" sz="1800" dirty="0"/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4173967772"/>
                  </a:ext>
                </a:extLst>
              </a:tr>
              <a:tr h="2011682">
                <a:tc>
                  <a:txBody>
                    <a:bodyPr/>
                    <a:lstStyle/>
                    <a:p>
                      <a:pPr algn="l"/>
                      <a:r>
                        <a:rPr lang="en-US" sz="1800" b="1" noProof="0" dirty="0"/>
                        <a:t>Typical approach adopted by researchers</a:t>
                      </a:r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/>
                        <a:t>Protective boundary approach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Authors of literature reviews operate with </a:t>
                      </a:r>
                      <a:r>
                        <a:rPr lang="en-US" sz="1800" i="1" dirty="0"/>
                        <a:t>black-box data</a:t>
                      </a:r>
                      <a:r>
                        <a:rPr lang="en-US" sz="1800" dirty="0"/>
                        <a:t> and categorically exclude computational </a:t>
                      </a:r>
                      <a:r>
                        <a:rPr lang="en-US" sz="1800" dirty="0" err="1"/>
                        <a:t>technqiues</a:t>
                      </a:r>
                      <a:r>
                        <a:rPr lang="en-US" sz="1800" dirty="0"/>
                        <a:t> (e.g., ML, LLMs), crowd workers, research assistants, and junior scholars due to unknown performance</a:t>
                      </a:r>
                      <a:r>
                        <a:rPr lang="en-CA" sz="1800" dirty="0"/>
                        <a:t>.</a:t>
                      </a:r>
                      <a:endParaRPr lang="en-US" sz="1800" dirty="0"/>
                    </a:p>
                  </a:txBody>
                  <a:tcPr marT="45721" marB="45721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/>
                        <a:t>Test-validate-undo approach</a:t>
                      </a:r>
                      <a:endParaRPr lang="en-US" sz="1800" dirty="0"/>
                    </a:p>
                    <a:p>
                      <a:pPr algn="l"/>
                      <a:r>
                        <a:rPr lang="en-US" sz="1800" dirty="0"/>
                        <a:t>Authors operate with </a:t>
                      </a:r>
                      <a:r>
                        <a:rPr lang="en-US" sz="1800" i="1" dirty="0"/>
                        <a:t>white-box data</a:t>
                      </a:r>
                      <a:r>
                        <a:rPr lang="en-US" sz="1800" dirty="0"/>
                        <a:t> and use state-of-the-art computational techniques, more diverse and larger teams because their contributions can be tested, validated, and undone.</a:t>
                      </a:r>
                    </a:p>
                  </a:txBody>
                  <a:tcPr marT="45721" marB="45721"/>
                </a:tc>
                <a:extLst>
                  <a:ext uri="{0D108BD9-81ED-4DB2-BD59-A6C34878D82A}">
                    <a16:rowId xmlns:a16="http://schemas.microsoft.com/office/drawing/2014/main" val="2583169068"/>
                  </a:ext>
                </a:extLst>
              </a:tr>
            </a:tbl>
          </a:graphicData>
        </a:graphic>
      </p:graphicFrame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A94FCCB3-59D0-2DDB-9766-3483998D7171}"/>
              </a:ext>
            </a:extLst>
          </p:cNvPr>
          <p:cNvGrpSpPr/>
          <p:nvPr/>
        </p:nvGrpSpPr>
        <p:grpSpPr>
          <a:xfrm>
            <a:off x="4549204" y="1443625"/>
            <a:ext cx="1209600" cy="1209013"/>
            <a:chOff x="3789405" y="725097"/>
            <a:chExt cx="2306595" cy="2356021"/>
          </a:xfrm>
        </p:grpSpPr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A30035F3-DDE4-BEE8-B88A-910B24689B1A}"/>
                </a:ext>
              </a:extLst>
            </p:cNvPr>
            <p:cNvSpPr/>
            <p:nvPr/>
          </p:nvSpPr>
          <p:spPr>
            <a:xfrm>
              <a:off x="3789405" y="725097"/>
              <a:ext cx="2306595" cy="2356021"/>
            </a:xfrm>
            <a:prstGeom prst="ellipse">
              <a:avLst/>
            </a:prstGeom>
            <a:pattFill prst="ltUpDiag">
              <a:fgClr>
                <a:schemeClr val="accent1"/>
              </a:fgClr>
              <a:bgClr>
                <a:schemeClr val="bg1"/>
              </a:bgClr>
            </a:patt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1"/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D6996ACA-3D14-5396-30E4-AB75D388704F}"/>
                </a:ext>
              </a:extLst>
            </p:cNvPr>
            <p:cNvSpPr/>
            <p:nvPr/>
          </p:nvSpPr>
          <p:spPr>
            <a:xfrm>
              <a:off x="4427838" y="1521851"/>
              <a:ext cx="1013254" cy="733168"/>
            </a:xfrm>
            <a:prstGeom prst="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 sz="1801" dirty="0"/>
            </a:p>
          </p:txBody>
        </p:sp>
      </p:grpSp>
      <p:sp>
        <p:nvSpPr>
          <p:cNvPr id="14" name="Ellipse 13">
            <a:extLst>
              <a:ext uri="{FF2B5EF4-FFF2-40B4-BE49-F238E27FC236}">
                <a16:creationId xmlns:a16="http://schemas.microsoft.com/office/drawing/2014/main" id="{C8DDB4E1-AE58-9F03-D4F4-EBD0CD25DC92}"/>
              </a:ext>
            </a:extLst>
          </p:cNvPr>
          <p:cNvSpPr/>
          <p:nvPr/>
        </p:nvSpPr>
        <p:spPr>
          <a:xfrm>
            <a:off x="9018437" y="1220559"/>
            <a:ext cx="429140" cy="1462905"/>
          </a:xfrm>
          <a:prstGeom prst="ellipse">
            <a:avLst/>
          </a:prstGeom>
          <a:pattFill prst="ltUpDiag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1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16F2A79-D0F3-DE6C-2962-DF015F0692D2}"/>
              </a:ext>
            </a:extLst>
          </p:cNvPr>
          <p:cNvSpPr/>
          <p:nvPr/>
        </p:nvSpPr>
        <p:spPr>
          <a:xfrm>
            <a:off x="8053737" y="157074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1" dirty="0"/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9D2049F6-4D33-D2D0-0897-DC570BC5B813}"/>
              </a:ext>
            </a:extLst>
          </p:cNvPr>
          <p:cNvSpPr/>
          <p:nvPr/>
        </p:nvSpPr>
        <p:spPr>
          <a:xfrm>
            <a:off x="9729878" y="1570749"/>
            <a:ext cx="720000" cy="720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1801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81231CBE-5110-8BA6-4DBF-FB4382DF2C5F}"/>
              </a:ext>
            </a:extLst>
          </p:cNvPr>
          <p:cNvCxnSpPr>
            <a:stCxn id="16" idx="3"/>
            <a:endCxn id="17" idx="1"/>
          </p:cNvCxnSpPr>
          <p:nvPr/>
        </p:nvCxnSpPr>
        <p:spPr>
          <a:xfrm>
            <a:off x="8773742" y="1930749"/>
            <a:ext cx="9561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CE9BB01-F7A3-3799-B3A1-91E17BC11BBC}"/>
                  </a:ext>
                </a:extLst>
              </p:cNvPr>
              <p:cNvSpPr txBox="1"/>
              <p:nvPr/>
            </p:nvSpPr>
            <p:spPr>
              <a:xfrm>
                <a:off x="7768045" y="2338757"/>
                <a:ext cx="13020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400" dirty="0"/>
                  <a:t>Version </a:t>
                </a:r>
                <a14:m>
                  <m:oMath xmlns:m="http://schemas.openxmlformats.org/officeDocument/2006/math">
                    <m:r>
                      <a:rPr lang="de-DE" sz="1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CA" sz="1400" dirty="0"/>
              </a:p>
            </p:txBody>
          </p:sp>
        </mc:Choice>
        <mc:Fallback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4CE9BB01-F7A3-3799-B3A1-91E17BC11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8045" y="2338757"/>
                <a:ext cx="1302013" cy="307777"/>
              </a:xfrm>
              <a:prstGeom prst="rect">
                <a:avLst/>
              </a:prstGeom>
              <a:blipFill>
                <a:blip r:embed="rId2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4292334-A2A0-D52D-54EB-2744E9F00AF2}"/>
                  </a:ext>
                </a:extLst>
              </p:cNvPr>
              <p:cNvSpPr txBox="1"/>
              <p:nvPr/>
            </p:nvSpPr>
            <p:spPr>
              <a:xfrm>
                <a:off x="9462212" y="2338758"/>
                <a:ext cx="14322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400" dirty="0"/>
                  <a:t>Version </a:t>
                </a:r>
                <a14:m>
                  <m:oMath xmlns:m="http://schemas.openxmlformats.org/officeDocument/2006/math">
                    <m:r>
                      <a:rPr lang="de-DE" sz="1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DE" sz="14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endParaRPr lang="en-CA" sz="1400" dirty="0"/>
              </a:p>
            </p:txBody>
          </p:sp>
        </mc:Choice>
        <mc:Fallback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44292334-A2A0-D52D-54EB-2744E9F00A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2212" y="2338758"/>
                <a:ext cx="1432215" cy="307777"/>
              </a:xfrm>
              <a:prstGeom prst="rect">
                <a:avLst/>
              </a:prstGeom>
              <a:blipFill>
                <a:blip r:embed="rId3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B158A934-0CA3-AA0D-3862-6DEF23527C57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7768043" y="1930749"/>
            <a:ext cx="285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97C429A5-0889-39B0-5D49-7EB85372231D}"/>
              </a:ext>
            </a:extLst>
          </p:cNvPr>
          <p:cNvCxnSpPr>
            <a:cxnSpLocks/>
            <a:stCxn id="17" idx="3"/>
          </p:cNvCxnSpPr>
          <p:nvPr/>
        </p:nvCxnSpPr>
        <p:spPr>
          <a:xfrm>
            <a:off x="10449878" y="1930749"/>
            <a:ext cx="612000" cy="65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extfeld 1">
            <a:extLst>
              <a:ext uri="{FF2B5EF4-FFF2-40B4-BE49-F238E27FC236}">
                <a16:creationId xmlns:a16="http://schemas.microsoft.com/office/drawing/2014/main" id="{0AAFB23C-E725-6692-E0B6-5D783A1186F8}"/>
              </a:ext>
            </a:extLst>
          </p:cNvPr>
          <p:cNvSpPr txBox="1"/>
          <p:nvPr/>
        </p:nvSpPr>
        <p:spPr>
          <a:xfrm>
            <a:off x="3197103" y="1119307"/>
            <a:ext cx="1575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noProof="1"/>
              <a:t>Intransparent changes</a:t>
            </a:r>
          </a:p>
        </p:txBody>
      </p:sp>
      <p:cxnSp>
        <p:nvCxnSpPr>
          <p:cNvPr id="5" name="Gerader Verbinder 4">
            <a:extLst>
              <a:ext uri="{FF2B5EF4-FFF2-40B4-BE49-F238E27FC236}">
                <a16:creationId xmlns:a16="http://schemas.microsoft.com/office/drawing/2014/main" id="{9EBE7141-161A-1C5B-715D-2684F1BABEBD}"/>
              </a:ext>
            </a:extLst>
          </p:cNvPr>
          <p:cNvCxnSpPr>
            <a:cxnSpLocks/>
          </p:cNvCxnSpPr>
          <p:nvPr/>
        </p:nvCxnSpPr>
        <p:spPr>
          <a:xfrm flipH="1" flipV="1">
            <a:off x="4358244" y="1443626"/>
            <a:ext cx="736270" cy="596977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0C956106-EEEE-31B4-CCDC-3F11657696DE}"/>
              </a:ext>
            </a:extLst>
          </p:cNvPr>
          <p:cNvSpPr txBox="1"/>
          <p:nvPr/>
        </p:nvSpPr>
        <p:spPr>
          <a:xfrm>
            <a:off x="7625696" y="780870"/>
            <a:ext cx="15754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noProof="1"/>
              <a:t>Transparent changes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73D3747A-F003-2CFB-2F60-469D5131D9CC}"/>
              </a:ext>
            </a:extLst>
          </p:cNvPr>
          <p:cNvCxnSpPr>
            <a:cxnSpLocks/>
            <a:stCxn id="16" idx="0"/>
            <a:endCxn id="8" idx="2"/>
          </p:cNvCxnSpPr>
          <p:nvPr/>
        </p:nvCxnSpPr>
        <p:spPr>
          <a:xfrm flipH="1" flipV="1">
            <a:off x="8413413" y="1304091"/>
            <a:ext cx="324" cy="26665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8EFBC061-D6AC-21F2-7941-B13A972DA055}"/>
              </a:ext>
            </a:extLst>
          </p:cNvPr>
          <p:cNvSpPr txBox="1"/>
          <p:nvPr/>
        </p:nvSpPr>
        <p:spPr>
          <a:xfrm>
            <a:off x="5137564" y="867398"/>
            <a:ext cx="20969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noProof="1"/>
              <a:t>Validation: </a:t>
            </a:r>
            <a:r>
              <a:rPr lang="de-DE" sz="1400" b="1" noProof="1"/>
              <a:t>before</a:t>
            </a:r>
            <a:r>
              <a:rPr lang="de-DE" sz="1400" noProof="1"/>
              <a:t> changes are applied</a:t>
            </a:r>
          </a:p>
        </p:txBody>
      </p:sp>
      <p:cxnSp>
        <p:nvCxnSpPr>
          <p:cNvPr id="24" name="Gerader Verbinder 23">
            <a:extLst>
              <a:ext uri="{FF2B5EF4-FFF2-40B4-BE49-F238E27FC236}">
                <a16:creationId xmlns:a16="http://schemas.microsoft.com/office/drawing/2014/main" id="{53139D08-98E9-658B-0112-5EB73067AE10}"/>
              </a:ext>
            </a:extLst>
          </p:cNvPr>
          <p:cNvCxnSpPr>
            <a:cxnSpLocks/>
            <a:endCxn id="12" idx="7"/>
          </p:cNvCxnSpPr>
          <p:nvPr/>
        </p:nvCxnSpPr>
        <p:spPr>
          <a:xfrm flipH="1">
            <a:off x="5581662" y="1396632"/>
            <a:ext cx="177139" cy="224049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feld 26">
            <a:extLst>
              <a:ext uri="{FF2B5EF4-FFF2-40B4-BE49-F238E27FC236}">
                <a16:creationId xmlns:a16="http://schemas.microsoft.com/office/drawing/2014/main" id="{2D6B1351-B6FE-1D05-F1F1-2DB85016A5CA}"/>
              </a:ext>
            </a:extLst>
          </p:cNvPr>
          <p:cNvSpPr txBox="1"/>
          <p:nvPr/>
        </p:nvSpPr>
        <p:spPr>
          <a:xfrm>
            <a:off x="9221837" y="838208"/>
            <a:ext cx="23065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400" noProof="1"/>
              <a:t>Validation: </a:t>
            </a:r>
            <a:r>
              <a:rPr lang="de-DE" sz="1400" b="1" noProof="1"/>
              <a:t>after</a:t>
            </a:r>
            <a:r>
              <a:rPr lang="de-DE" sz="1400" noProof="1"/>
              <a:t> changes are applied (option to undo)</a:t>
            </a:r>
          </a:p>
        </p:txBody>
      </p: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FE925563-AFBF-966F-00DE-F9E8F8A8611B}"/>
              </a:ext>
            </a:extLst>
          </p:cNvPr>
          <p:cNvCxnSpPr>
            <a:cxnSpLocks/>
          </p:cNvCxnSpPr>
          <p:nvPr/>
        </p:nvCxnSpPr>
        <p:spPr>
          <a:xfrm flipH="1">
            <a:off x="9408483" y="1342832"/>
            <a:ext cx="254943" cy="192906"/>
          </a:xfrm>
          <a:prstGeom prst="line">
            <a:avLst/>
          </a:prstGeom>
          <a:ln w="1905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15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141</Words>
  <Application>Microsoft Office PowerPoint</Application>
  <PresentationFormat>Benutzerdefiniert</PresentationFormat>
  <Paragraphs>33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Gerit Wagner</dc:creator>
  <cp:lastModifiedBy>Gerit Wagner</cp:lastModifiedBy>
  <cp:revision>26</cp:revision>
  <dcterms:created xsi:type="dcterms:W3CDTF">2022-11-21T16:50:26Z</dcterms:created>
  <dcterms:modified xsi:type="dcterms:W3CDTF">2025-06-04T13:31:27Z</dcterms:modified>
</cp:coreProperties>
</file>
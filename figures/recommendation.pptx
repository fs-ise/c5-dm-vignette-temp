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2" r:id="rId2"/>
  </p:sldIdLst>
  <p:sldSz cx="8640763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92" autoAdjust="0"/>
    <p:restoredTop sz="94660"/>
  </p:normalViewPr>
  <p:slideViewPr>
    <p:cSldViewPr snapToGrid="0">
      <p:cViewPr varScale="1">
        <p:scale>
          <a:sx n="234" d="100"/>
          <a:sy n="234" d="100"/>
        </p:scale>
        <p:origin x="192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96" y="412312"/>
            <a:ext cx="6480572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1323249"/>
            <a:ext cx="6480572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40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92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2" y="628091"/>
            <a:ext cx="7452658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2" y="1685991"/>
            <a:ext cx="7452658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75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75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308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670664"/>
            <a:ext cx="3672324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670664"/>
            <a:ext cx="3672324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01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34133"/>
            <a:ext cx="7452658" cy="486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8" y="617594"/>
            <a:ext cx="3655447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8" y="920267"/>
            <a:ext cx="3655447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6" y="617594"/>
            <a:ext cx="3673450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6" y="920267"/>
            <a:ext cx="3673450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153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2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85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67958"/>
            <a:ext cx="2786871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362742"/>
            <a:ext cx="4374386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755809"/>
            <a:ext cx="2786871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8582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67958"/>
            <a:ext cx="2786871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362742"/>
            <a:ext cx="4374386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755809"/>
            <a:ext cx="2786871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035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29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134133"/>
            <a:ext cx="1863165" cy="21350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2" y="134133"/>
            <a:ext cx="5481484" cy="21350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681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134133"/>
            <a:ext cx="7452658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670664"/>
            <a:ext cx="7452658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2335076"/>
            <a:ext cx="1944172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28AD1-41A5-4516-A44D-CEF402D4E7E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2335076"/>
            <a:ext cx="2916258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2335076"/>
            <a:ext cx="1944172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D35CD-9660-44C7-9AF0-DF0F7B49163D}" type="slidenum">
              <a:rPr lang="en-AU" smtClean="0"/>
              <a:t>‹Nr.›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84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82200-BEE3-17B1-7C59-52845745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5">
            <a:extLst>
              <a:ext uri="{FF2B5EF4-FFF2-40B4-BE49-F238E27FC236}">
                <a16:creationId xmlns:a16="http://schemas.microsoft.com/office/drawing/2014/main" id="{7A15DB76-ADE6-EC90-FC80-27081F0EE4D1}"/>
              </a:ext>
            </a:extLst>
          </p:cNvPr>
          <p:cNvCxnSpPr>
            <a:cxnSpLocks/>
            <a:stCxn id="4" idx="1"/>
            <a:endCxn id="31" idx="3"/>
          </p:cNvCxnSpPr>
          <p:nvPr/>
        </p:nvCxnSpPr>
        <p:spPr>
          <a:xfrm flipH="1" flipV="1">
            <a:off x="2499593" y="1241127"/>
            <a:ext cx="3822676" cy="16340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5">
            <a:extLst>
              <a:ext uri="{FF2B5EF4-FFF2-40B4-BE49-F238E27FC236}">
                <a16:creationId xmlns:a16="http://schemas.microsoft.com/office/drawing/2014/main" id="{4AF97CC6-AECC-07D9-02B5-E8364FDB17A2}"/>
              </a:ext>
            </a:extLst>
          </p:cNvPr>
          <p:cNvCxnSpPr>
            <a:cxnSpLocks/>
            <a:stCxn id="4" idx="1"/>
            <a:endCxn id="9" idx="3"/>
          </p:cNvCxnSpPr>
          <p:nvPr/>
        </p:nvCxnSpPr>
        <p:spPr>
          <a:xfrm flipH="1" flipV="1">
            <a:off x="2413949" y="1055667"/>
            <a:ext cx="3908320" cy="201801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5">
            <a:extLst>
              <a:ext uri="{FF2B5EF4-FFF2-40B4-BE49-F238E27FC236}">
                <a16:creationId xmlns:a16="http://schemas.microsoft.com/office/drawing/2014/main" id="{9C553848-9473-50DD-A603-0C193D557F5E}"/>
              </a:ext>
            </a:extLst>
          </p:cNvPr>
          <p:cNvSpPr txBox="1"/>
          <p:nvPr/>
        </p:nvSpPr>
        <p:spPr>
          <a:xfrm>
            <a:off x="6322270" y="718858"/>
            <a:ext cx="1475599" cy="107721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Tw Cen MT" panose="020B0602020104020603" pitchFamily="34" charset="0"/>
              </a:rPr>
              <a:t>Primary record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latin typeface="Tw Cen MT" panose="020B0602020104020603" pitchFamily="34" charset="0"/>
              </a:rPr>
              <a:t>Identifiers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latin typeface="Tw Cen MT" panose="020B0602020104020603" pitchFamily="34" charset="0"/>
              </a:rPr>
              <a:t>Origin links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latin typeface="Tw Cen MT" panose="020B0602020104020603" pitchFamily="34" charset="0"/>
              </a:rPr>
              <a:t>Status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latin typeface="Tw Cen MT" panose="020B0602020104020603" pitchFamily="34" charset="0"/>
              </a:rPr>
              <a:t>Metadata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4F33671C-52A4-89B9-E351-3063DF0F235F}"/>
              </a:ext>
            </a:extLst>
          </p:cNvPr>
          <p:cNvSpPr txBox="1"/>
          <p:nvPr/>
        </p:nvSpPr>
        <p:spPr>
          <a:xfrm>
            <a:off x="588749" y="701723"/>
            <a:ext cx="1825200" cy="70788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F8F8F8"/>
                </a:solidFill>
                <a:latin typeface="Tw Cen MT" panose="020B0602020104020603" pitchFamily="34" charset="0"/>
              </a:rPr>
              <a:t>Record (raw data)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solidFill>
                  <a:srgbClr val="F8F8F8"/>
                </a:solidFill>
                <a:latin typeface="Tw Cen MT" panose="020B0602020104020603" pitchFamily="34" charset="0"/>
              </a:rPr>
              <a:t>Metadata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solidFill>
                  <a:srgbClr val="F8F8F8"/>
                </a:solidFill>
                <a:latin typeface="Tw Cen MT" panose="020B0602020104020603" pitchFamily="34" charset="0"/>
              </a:rPr>
              <a:t>Identifiers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574EED4-2DB6-7AE5-1263-D39B6C9B521B}"/>
              </a:ext>
            </a:extLst>
          </p:cNvPr>
          <p:cNvSpPr/>
          <p:nvPr/>
        </p:nvSpPr>
        <p:spPr>
          <a:xfrm>
            <a:off x="47261" y="13643"/>
            <a:ext cx="8563459" cy="2488151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D17D07D-015A-0368-79A7-206318D936DC}"/>
              </a:ext>
            </a:extLst>
          </p:cNvPr>
          <p:cNvCxnSpPr>
            <a:cxnSpLocks/>
            <a:stCxn id="25" idx="2"/>
            <a:endCxn id="9" idx="0"/>
          </p:cNvCxnSpPr>
          <p:nvPr/>
        </p:nvCxnSpPr>
        <p:spPr>
          <a:xfrm>
            <a:off x="1501349" y="545169"/>
            <a:ext cx="0" cy="15655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9">
            <a:extLst>
              <a:ext uri="{FF2B5EF4-FFF2-40B4-BE49-F238E27FC236}">
                <a16:creationId xmlns:a16="http://schemas.microsoft.com/office/drawing/2014/main" id="{4DF43E1A-BE5F-5C09-BB1D-2497366B5634}"/>
              </a:ext>
            </a:extLst>
          </p:cNvPr>
          <p:cNvSpPr txBox="1"/>
          <p:nvPr/>
        </p:nvSpPr>
        <p:spPr>
          <a:xfrm>
            <a:off x="120872" y="83504"/>
            <a:ext cx="2760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1" algn="ctr"/>
            <a:r>
              <a:rPr lang="en-AU" sz="1200" dirty="0">
                <a:latin typeface="Tw Cen MT" panose="020B0602020104020603" pitchFamily="34" charset="0"/>
              </a:rPr>
              <a:t>Search results stored separately and in the original data format (e.g., </a:t>
            </a:r>
            <a:r>
              <a:rPr lang="en-AU" sz="1200" i="1" dirty="0">
                <a:latin typeface="Tw Cen MT" panose="020B0602020104020603" pitchFamily="34" charset="0"/>
              </a:rPr>
              <a:t>RIS</a:t>
            </a:r>
            <a:r>
              <a:rPr lang="en-AU" sz="1200" dirty="0">
                <a:latin typeface="Tw Cen MT" panose="020B0602020104020603" pitchFamily="34" charset="0"/>
              </a:rPr>
              <a:t>, </a:t>
            </a:r>
            <a:r>
              <a:rPr lang="en-AU" sz="1200" i="1" dirty="0">
                <a:latin typeface="Tw Cen MT" panose="020B0602020104020603" pitchFamily="34" charset="0"/>
              </a:rPr>
              <a:t>CSV</a:t>
            </a:r>
            <a:r>
              <a:rPr lang="en-AU" sz="1200" dirty="0">
                <a:latin typeface="Tw Cen MT" panose="020B0602020104020603" pitchFamily="34" charset="0"/>
              </a:rPr>
              <a:t>)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05A6805-7E12-34D1-D2F5-80BF603BB7FA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4427803" y="1426587"/>
            <a:ext cx="4695" cy="274002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9">
            <a:extLst>
              <a:ext uri="{FF2B5EF4-FFF2-40B4-BE49-F238E27FC236}">
                <a16:creationId xmlns:a16="http://schemas.microsoft.com/office/drawing/2014/main" id="{24ADEE97-6229-1FD7-0108-C17CB58105B2}"/>
              </a:ext>
            </a:extLst>
          </p:cNvPr>
          <p:cNvSpPr txBox="1"/>
          <p:nvPr/>
        </p:nvSpPr>
        <p:spPr>
          <a:xfrm>
            <a:off x="3356181" y="1700589"/>
            <a:ext cx="2152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1" algn="ctr"/>
            <a:r>
              <a:rPr lang="en-AU" sz="1200" dirty="0">
                <a:latin typeface="Tw Cen MT" panose="020B0602020104020603" pitchFamily="34" charset="0"/>
              </a:rPr>
              <a:t>Original raw data records are linked to master records</a:t>
            </a:r>
            <a:br>
              <a:rPr lang="en-AU" sz="1200" dirty="0">
                <a:latin typeface="Tw Cen MT" panose="020B0602020104020603" pitchFamily="34" charset="0"/>
              </a:rPr>
            </a:br>
            <a:r>
              <a:rPr lang="en-AU" sz="1200" dirty="0">
                <a:latin typeface="Tw Cen MT" panose="020B0602020104020603" pitchFamily="34" charset="0"/>
              </a:rPr>
              <a:t>(when merging duplicates)</a:t>
            </a:r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6B993C46-D415-A0A7-FD13-2EEF47D66D2B}"/>
              </a:ext>
            </a:extLst>
          </p:cNvPr>
          <p:cNvSpPr txBox="1"/>
          <p:nvPr/>
        </p:nvSpPr>
        <p:spPr>
          <a:xfrm>
            <a:off x="6175321" y="83504"/>
            <a:ext cx="1756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1" algn="ctr"/>
            <a:r>
              <a:rPr lang="en-AU" sz="1200" dirty="0">
                <a:latin typeface="Tw Cen MT" panose="020B0602020104020603" pitchFamily="34" charset="0"/>
              </a:rPr>
              <a:t>Assigned to unique and non-modifiable ID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C3BEC01-6675-7D4D-056A-F7A4DFF47AD7}"/>
              </a:ext>
            </a:extLst>
          </p:cNvPr>
          <p:cNvCxnSpPr>
            <a:cxnSpLocks/>
            <a:stCxn id="4" idx="0"/>
            <a:endCxn id="33" idx="2"/>
          </p:cNvCxnSpPr>
          <p:nvPr/>
        </p:nvCxnSpPr>
        <p:spPr>
          <a:xfrm flipH="1" flipV="1">
            <a:off x="7053719" y="545168"/>
            <a:ext cx="6351" cy="17369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9">
            <a:extLst>
              <a:ext uri="{FF2B5EF4-FFF2-40B4-BE49-F238E27FC236}">
                <a16:creationId xmlns:a16="http://schemas.microsoft.com/office/drawing/2014/main" id="{E043ADD1-317E-3AB6-0489-99DD5947F28D}"/>
              </a:ext>
            </a:extLst>
          </p:cNvPr>
          <p:cNvSpPr txBox="1"/>
          <p:nvPr/>
        </p:nvSpPr>
        <p:spPr>
          <a:xfrm>
            <a:off x="3304159" y="414215"/>
            <a:ext cx="2247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1" algn="ctr"/>
            <a:r>
              <a:rPr lang="en-AU" sz="1200" dirty="0">
                <a:latin typeface="Tw Cen MT" panose="020B0602020104020603" pitchFamily="34" charset="0"/>
              </a:rPr>
              <a:t>Converted into a common and expressive format (e.g., </a:t>
            </a:r>
            <a:r>
              <a:rPr lang="en-AU" sz="1200" i="1" dirty="0" err="1">
                <a:latin typeface="Tw Cen MT" panose="020B0602020104020603" pitchFamily="34" charset="0"/>
              </a:rPr>
              <a:t>BibTeX</a:t>
            </a:r>
            <a:r>
              <a:rPr lang="en-AU" sz="1200" dirty="0">
                <a:latin typeface="Tw Cen MT" panose="020B0602020104020603" pitchFamily="34" charset="0"/>
              </a:rPr>
              <a:t>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2831C4F6-F6DD-18E4-6442-37545267D595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>
            <a:off x="7060069" y="1796076"/>
            <a:ext cx="9144" cy="159978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9">
            <a:extLst>
              <a:ext uri="{FF2B5EF4-FFF2-40B4-BE49-F238E27FC236}">
                <a16:creationId xmlns:a16="http://schemas.microsoft.com/office/drawing/2014/main" id="{DB8D5601-04F7-FB17-BB19-6C9B880CE023}"/>
              </a:ext>
            </a:extLst>
          </p:cNvPr>
          <p:cNvSpPr txBox="1"/>
          <p:nvPr/>
        </p:nvSpPr>
        <p:spPr>
          <a:xfrm>
            <a:off x="5698464" y="1956055"/>
            <a:ext cx="274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1" algn="ctr"/>
            <a:r>
              <a:rPr lang="en-AU" sz="1200" dirty="0">
                <a:latin typeface="Tw Cen MT" panose="020B0602020104020603" pitchFamily="34" charset="0"/>
              </a:rPr>
              <a:t>Progress tracked based on a status field (e.g., </a:t>
            </a:r>
            <a:r>
              <a:rPr lang="en-AU" sz="1200" i="1" dirty="0">
                <a:latin typeface="Tw Cen MT" panose="020B0602020104020603" pitchFamily="34" charset="0"/>
              </a:rPr>
              <a:t>included</a:t>
            </a:r>
            <a:r>
              <a:rPr lang="en-AU" sz="1200" dirty="0">
                <a:latin typeface="Tw Cen MT" panose="020B0602020104020603" pitchFamily="34" charset="0"/>
              </a:rPr>
              <a:t>, </a:t>
            </a:r>
            <a:r>
              <a:rPr lang="en-AU" sz="1200" i="1" dirty="0" err="1">
                <a:latin typeface="Tw Cen MT" panose="020B0602020104020603" pitchFamily="34" charset="0"/>
              </a:rPr>
              <a:t>data_extracted</a:t>
            </a:r>
            <a:r>
              <a:rPr lang="en-AU" sz="1200" dirty="0">
                <a:latin typeface="Tw Cen MT" panose="020B0602020104020603" pitchFamily="34" charset="0"/>
              </a:rPr>
              <a:t>)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B5E20C19-DACE-2570-4ABE-CA686369A342}"/>
              </a:ext>
            </a:extLst>
          </p:cNvPr>
          <p:cNvSpPr txBox="1"/>
          <p:nvPr/>
        </p:nvSpPr>
        <p:spPr>
          <a:xfrm>
            <a:off x="674393" y="887184"/>
            <a:ext cx="1825200" cy="70788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F8F8F8"/>
                </a:solidFill>
                <a:latin typeface="Tw Cen MT" panose="020B0602020104020603" pitchFamily="34" charset="0"/>
              </a:rPr>
              <a:t>Record (raw data)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solidFill>
                  <a:srgbClr val="F8F8F8"/>
                </a:solidFill>
                <a:latin typeface="Tw Cen MT" panose="020B0602020104020603" pitchFamily="34" charset="0"/>
              </a:rPr>
              <a:t>Metadata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solidFill>
                  <a:srgbClr val="F8F8F8"/>
                </a:solidFill>
                <a:latin typeface="Tw Cen MT" panose="020B0602020104020603" pitchFamily="34" charset="0"/>
              </a:rPr>
              <a:t>Identifiers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1FF048E4-7D06-4822-CF6B-885EA19882FA}"/>
              </a:ext>
            </a:extLst>
          </p:cNvPr>
          <p:cNvSpPr txBox="1"/>
          <p:nvPr/>
        </p:nvSpPr>
        <p:spPr>
          <a:xfrm>
            <a:off x="760061" y="1072644"/>
            <a:ext cx="1825189" cy="70788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Tw Cen MT" panose="020B0602020104020603" pitchFamily="34" charset="0"/>
              </a:rPr>
              <a:t>Raw data record(s)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latin typeface="Tw Cen MT" panose="020B0602020104020603" pitchFamily="34" charset="0"/>
              </a:rPr>
              <a:t>Identifiers</a:t>
            </a:r>
          </a:p>
          <a:p>
            <a:pPr marL="285751" indent="-285751">
              <a:buFontTx/>
              <a:buChar char="-"/>
            </a:pPr>
            <a:r>
              <a:rPr lang="en-AU" sz="1200" dirty="0">
                <a:latin typeface="Tw Cen MT" panose="020B0602020104020603" pitchFamily="34" charset="0"/>
              </a:rPr>
              <a:t>Metadata</a:t>
            </a:r>
          </a:p>
        </p:txBody>
      </p:sp>
      <p:cxnSp>
        <p:nvCxnSpPr>
          <p:cNvPr id="5" name="Straight Arrow Connector 15">
            <a:extLst>
              <a:ext uri="{FF2B5EF4-FFF2-40B4-BE49-F238E27FC236}">
                <a16:creationId xmlns:a16="http://schemas.microsoft.com/office/drawing/2014/main" id="{261BDFE8-FFFC-2F7E-D847-D9E13B5A605B}"/>
              </a:ext>
            </a:extLst>
          </p:cNvPr>
          <p:cNvCxnSpPr>
            <a:cxnSpLocks/>
            <a:stCxn id="4" idx="1"/>
            <a:endCxn id="38" idx="3"/>
          </p:cNvCxnSpPr>
          <p:nvPr/>
        </p:nvCxnSpPr>
        <p:spPr>
          <a:xfrm flipH="1">
            <a:off x="2585249" y="1257467"/>
            <a:ext cx="3737020" cy="169120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922EE9A9-DA7C-41F0-EAB7-5669670D5A9F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4427801" y="855220"/>
            <a:ext cx="0" cy="238087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690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101</Words>
  <Application>Microsoft Office PowerPoint</Application>
  <PresentationFormat>Benutzerdefiniert</PresentationFormat>
  <Paragraphs>19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Tw Cen MT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Gerit Wagner</cp:lastModifiedBy>
  <cp:revision>40</cp:revision>
  <dcterms:created xsi:type="dcterms:W3CDTF">2022-07-07T02:18:54Z</dcterms:created>
  <dcterms:modified xsi:type="dcterms:W3CDTF">2025-06-04T12:21:12Z</dcterms:modified>
</cp:coreProperties>
</file>